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</p:sldMasterIdLst>
  <p:notesMasterIdLst>
    <p:notesMasterId r:id="rId18"/>
  </p:notesMasterIdLst>
  <p:sldIdLst>
    <p:sldId id="256" r:id="rId3"/>
    <p:sldId id="571" r:id="rId4"/>
    <p:sldId id="572" r:id="rId5"/>
    <p:sldId id="573" r:id="rId6"/>
    <p:sldId id="574" r:id="rId7"/>
    <p:sldId id="575" r:id="rId8"/>
    <p:sldId id="576" r:id="rId9"/>
    <p:sldId id="580" r:id="rId10"/>
    <p:sldId id="581" r:id="rId11"/>
    <p:sldId id="582" r:id="rId12"/>
    <p:sldId id="583" r:id="rId13"/>
    <p:sldId id="577" r:id="rId14"/>
    <p:sldId id="579" r:id="rId15"/>
    <p:sldId id="578" r:id="rId16"/>
    <p:sldId id="536" r:id="rId17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312" userDrawn="1">
          <p15:clr>
            <a:srgbClr val="A4A3A4"/>
          </p15:clr>
        </p15:guide>
        <p15:guide id="3" orient="horz" pos="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4B9636B-3D94-EB3D-7CF5-3935240F8C9F}" name="Ramar Bose" initials="RB" userId="S::ramar@edunetfoundation.org::ae727035-80f4-46a2-9b41-59f778a1b49a" providerId="AD"/>
  <p188:author id="{D0A8B7BB-36D1-777B-64C8-9A30C894A727}" name="Rashmi Mishra" initials="RM" userId="S::rmishra@edunetfoundation.org::6469e6c3-66fa-4f4f-9c10-a71ac4161bf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9DE2"/>
    <a:srgbClr val="34A751"/>
    <a:srgbClr val="263570"/>
    <a:srgbClr val="88BFEC"/>
    <a:srgbClr val="F9B1B1"/>
    <a:srgbClr val="B2DE82"/>
    <a:srgbClr val="F57373"/>
    <a:srgbClr val="F03434"/>
    <a:srgbClr val="BC7D00"/>
    <a:srgbClr val="FFB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3818" autoAdjust="0"/>
  </p:normalViewPr>
  <p:slideViewPr>
    <p:cSldViewPr snapToGrid="0">
      <p:cViewPr varScale="1">
        <p:scale>
          <a:sx n="70" d="100"/>
          <a:sy n="70" d="100"/>
        </p:scale>
        <p:origin x="714" y="60"/>
      </p:cViewPr>
      <p:guideLst>
        <p:guide orient="horz" pos="672"/>
        <p:guide pos="312"/>
        <p:guide orient="horz" pos="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8/10/relationships/authors" Target="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99836-02B7-459A-AF64-A000817D576C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065E4E-ABE4-4C79-8716-B93932D5FB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33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26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88B07-5A8B-12D3-48D5-B8315D13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B6700-05A0-7411-109E-A374569B6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8D759-B238-4D1C-A179-63DF885F6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31F17-191B-CFE4-28A8-DF229B949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065E4E-ABE4-4C79-8716-B93932D5FBD3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854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90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4273-D1B2-B5DA-BF7E-9FF169DF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EE723-48AC-C184-D51D-DB184D9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A217C-58BE-CEDC-FE42-FFECCA16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FA99E-0146-4BD9-9E30-4EB71F3A4207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67DFB-4595-5610-E73D-EA112439D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188B-8994-FE2D-E924-64F2FB541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81918-31C6-44C6-A382-2FA557A3F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2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5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85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7107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22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87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1_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747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0374086" cy="6604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66C649D9-DD8B-5B7D-F409-A3797AEF3D3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5905" y="91005"/>
            <a:ext cx="1466678" cy="478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7"/>
    </p:custDataLst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5" r:id="rId2"/>
    <p:sldLayoutId id="2147483666" r:id="rId3"/>
    <p:sldLayoutId id="2147483667" r:id="rId4"/>
    <p:sldLayoutId id="2147483668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179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40A069D-B6C2-7B0A-6719-9C65A27E0952}"/>
              </a:ext>
            </a:extLst>
          </p:cNvPr>
          <p:cNvSpPr/>
          <p:nvPr/>
        </p:nvSpPr>
        <p:spPr>
          <a:xfrm>
            <a:off x="-32657" y="3429000"/>
            <a:ext cx="424543" cy="3429000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C78EFA-3B33-383D-31A6-F48EC0533950}"/>
              </a:ext>
            </a:extLst>
          </p:cNvPr>
          <p:cNvSpPr/>
          <p:nvPr/>
        </p:nvSpPr>
        <p:spPr>
          <a:xfrm>
            <a:off x="0" y="0"/>
            <a:ext cx="228600" cy="3429000"/>
          </a:xfrm>
          <a:prstGeom prst="rect">
            <a:avLst/>
          </a:prstGeom>
          <a:solidFill>
            <a:srgbClr val="26357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DD7732-9B23-40F7-1FF7-FD50BDC193D8}"/>
              </a:ext>
            </a:extLst>
          </p:cNvPr>
          <p:cNvSpPr/>
          <p:nvPr/>
        </p:nvSpPr>
        <p:spPr>
          <a:xfrm>
            <a:off x="7913913" y="0"/>
            <a:ext cx="4985657" cy="3156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DA2A85-6D5C-2987-0FF8-3AF240456D3B}"/>
              </a:ext>
            </a:extLst>
          </p:cNvPr>
          <p:cNvSpPr/>
          <p:nvPr/>
        </p:nvSpPr>
        <p:spPr>
          <a:xfrm>
            <a:off x="-32657" y="6509659"/>
            <a:ext cx="12888684" cy="348341"/>
          </a:xfrm>
          <a:prstGeom prst="rect">
            <a:avLst/>
          </a:prstGeom>
          <a:solidFill>
            <a:srgbClr val="34A7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4D362339-2CD4-BEA9-8BCD-81A300A3C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04" y="316620"/>
            <a:ext cx="1725854" cy="56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1999" cy="68573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837936-4230-3A98-A2A1-6E77E027B36D}"/>
              </a:ext>
            </a:extLst>
          </p:cNvPr>
          <p:cNvSpPr>
            <a:spLocks noGrp="1"/>
          </p:cNvSpPr>
          <p:nvPr/>
        </p:nvSpPr>
        <p:spPr>
          <a:xfrm>
            <a:off x="517379" y="1015701"/>
            <a:ext cx="4746772" cy="283411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300" b="1" kern="1200" dirty="0">
                <a:solidFill>
                  <a:srgbClr val="002060"/>
                </a:solidFill>
                <a:ea typeface="+mj-ea"/>
                <a:cs typeface="+mj-cs"/>
              </a:rPr>
              <a:t>CAPSTONE </a:t>
            </a:r>
            <a:r>
              <a:rPr lang="en-US" sz="3300" b="1" dirty="0">
                <a:solidFill>
                  <a:srgbClr val="002060"/>
                </a:solidFill>
              </a:rPr>
              <a:t>PROJECT</a:t>
            </a:r>
            <a:endParaRPr lang="en-US" sz="3300" dirty="0">
              <a:solidFill>
                <a:srgbClr val="002060"/>
              </a:solidFill>
            </a:endParaRPr>
          </a:p>
          <a:p>
            <a:pPr algn="l"/>
            <a:br>
              <a:rPr lang="en-US" sz="5100" b="1" dirty="0"/>
            </a:br>
            <a:r>
              <a:rPr lang="en-US" sz="5100" b="1" cap="all" dirty="0">
                <a:solidFill>
                  <a:schemeClr val="accent1"/>
                </a:solidFill>
                <a:latin typeface="+mn-lt"/>
              </a:rPr>
              <a:t>Sales Performance Analysis For </a:t>
            </a:r>
            <a:r>
              <a:rPr lang="en-US" sz="5100" b="1" cap="all" dirty="0" err="1">
                <a:solidFill>
                  <a:schemeClr val="accent1"/>
                </a:solidFill>
                <a:latin typeface="+mn-lt"/>
              </a:rPr>
              <a:t>Zepto</a:t>
            </a:r>
            <a:r>
              <a:rPr lang="en-US" sz="5100" b="1" cap="all" dirty="0">
                <a:solidFill>
                  <a:schemeClr val="accent1"/>
                </a:solidFill>
                <a:latin typeface="+mn-lt"/>
              </a:rPr>
              <a:t> Grocery</a:t>
            </a:r>
            <a:endParaRPr lang="en-US" sz="51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663A0C-3931-F8E6-391C-2FF1FDBB09CD}"/>
              </a:ext>
            </a:extLst>
          </p:cNvPr>
          <p:cNvSpPr>
            <a:spLocks noGrp="1"/>
          </p:cNvSpPr>
          <p:nvPr/>
        </p:nvSpPr>
        <p:spPr>
          <a:xfrm>
            <a:off x="594127" y="3881379"/>
            <a:ext cx="4166512" cy="24921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US" sz="1600" b="1" cap="all" dirty="0"/>
              <a:t>Presented By</a:t>
            </a:r>
            <a:endParaRPr lang="en-US" sz="1600" cap="all" dirty="0"/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Student Name: </a:t>
            </a:r>
            <a:r>
              <a:rPr lang="en-US" sz="1600" b="1" cap="all" dirty="0">
                <a:solidFill>
                  <a:srgbClr val="4A9DE2"/>
                </a:solidFill>
              </a:rPr>
              <a:t>Himanshu Kumar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College Name: </a:t>
            </a:r>
            <a:r>
              <a:rPr lang="en-US" sz="1600" b="1" cap="all" dirty="0">
                <a:solidFill>
                  <a:srgbClr val="4A9DE2"/>
                </a:solidFill>
              </a:rPr>
              <a:t>Indira Gandhi National Open University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Department: </a:t>
            </a:r>
            <a:r>
              <a:rPr lang="en-US" sz="1600" b="1" cap="all" dirty="0">
                <a:solidFill>
                  <a:srgbClr val="4A9DE2"/>
                </a:solidFill>
              </a:rPr>
              <a:t>MCA</a:t>
            </a:r>
            <a:r>
              <a:rPr lang="en-US" sz="1600" b="1" cap="all" dirty="0"/>
              <a:t> </a:t>
            </a:r>
          </a:p>
          <a:p>
            <a:pPr algn="l">
              <a:spcAft>
                <a:spcPts val="600"/>
              </a:spcAft>
            </a:pPr>
            <a:r>
              <a:rPr lang="en-US" sz="1600" b="1" cap="all" dirty="0"/>
              <a:t>Email ID: </a:t>
            </a:r>
            <a:r>
              <a:rPr lang="en-US" sz="1600" b="1" cap="all" dirty="0">
                <a:solidFill>
                  <a:srgbClr val="4A9DE2"/>
                </a:solidFill>
              </a:rPr>
              <a:t>srivastavahimanshu36@gmail.com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288F3F-AD4C-81EA-1336-D2C00EFCC4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58594" y="960437"/>
            <a:ext cx="3526063" cy="49364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103334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0E59-694D-9DFE-4488-37D5F2F48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9850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5400" b="1" cap="all" dirty="0">
                <a:latin typeface="Arial"/>
                <a:cs typeface="Arial"/>
              </a:rPr>
              <a:t>OUTLINE: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173D-62A9-AF06-B476-EEB827087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7" y="1822228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Problem Statement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Proposed System/Solution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System Development Approach</a:t>
            </a:r>
            <a:r>
              <a:rPr lang="en-US" sz="2200" dirty="0">
                <a:latin typeface="Arial"/>
                <a:cs typeface="Arial"/>
              </a:rPr>
              <a:t> </a:t>
            </a: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Algorithm &amp; Deployment  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Result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Conclusion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Future Scope</a:t>
            </a:r>
            <a:endParaRPr lang="en-US" sz="2200" dirty="0">
              <a:latin typeface="Arial"/>
              <a:cs typeface="Arial"/>
            </a:endParaRPr>
          </a:p>
          <a:p>
            <a:pPr marL="305435" indent="-305435">
              <a:spcBef>
                <a:spcPct val="20000"/>
              </a:spcBef>
              <a:spcAft>
                <a:spcPts val="600"/>
              </a:spcAft>
            </a:pPr>
            <a:r>
              <a:rPr lang="en-US" sz="2200" b="1" dirty="0">
                <a:latin typeface="Arial"/>
                <a:cs typeface="Arial"/>
              </a:rPr>
              <a:t>References</a:t>
            </a:r>
            <a:endParaRPr lang="en-US" sz="2200" dirty="0">
              <a:latin typeface="Arial"/>
              <a:cs typeface="Arial"/>
            </a:endParaRPr>
          </a:p>
          <a:p>
            <a:endParaRPr lang="en-GB" sz="2200" dirty="0">
              <a:latin typeface="Aptos" panose="020B0004020202020204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787476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9B35C-A00A-C6C7-8532-576758ED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Problem Statement:</a:t>
            </a:r>
            <a:endParaRPr lang="en-US" sz="40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C3915AF-821C-6A7D-CB63-F9374CD20E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0514" y="1658375"/>
            <a:ext cx="10764174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200" dirty="0">
                <a:latin typeface="Franklin Gothic Book" panose="020B0503020102020204" pitchFamily="34" charset="0"/>
              </a:rPr>
              <a:t>Context: </a:t>
            </a:r>
            <a:r>
              <a:rPr lang="en-US" sz="2200" dirty="0" err="1">
                <a:latin typeface="Franklin Gothic Book" panose="020B0503020102020204" pitchFamily="34" charset="0"/>
              </a:rPr>
              <a:t>Zepto</a:t>
            </a:r>
            <a:r>
              <a:rPr lang="en-US" sz="2200" dirty="0">
                <a:latin typeface="Franklin Gothic Book" panose="020B0503020102020204" pitchFamily="34" charset="0"/>
              </a:rPr>
              <a:t> operates multiple outlet types and sizes across tiers; sales vary widely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200" dirty="0">
                <a:latin typeface="Franklin Gothic Book" panose="020B0503020102020204" pitchFamily="34" charset="0"/>
              </a:rPr>
              <a:t>   by item type, outlet size, and location.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200" dirty="0">
                <a:latin typeface="Franklin Gothic Book" panose="020B0503020102020204" pitchFamily="34" charset="0"/>
              </a:rPr>
              <a:t>Observed issues (from dashboard):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IN" sz="2200" dirty="0">
                <a:latin typeface="Franklin Gothic Book" panose="020B0503020102020204" pitchFamily="34" charset="0"/>
              </a:rPr>
              <a:t> </a:t>
            </a:r>
            <a:r>
              <a:rPr lang="en-US" sz="2200" dirty="0">
                <a:latin typeface="Franklin Gothic Book" panose="020B0503020102020204" pitchFamily="34" charset="0"/>
              </a:rPr>
              <a:t>Uneven revenue distribution: Tier 3 outlets show highest sales ($472K) while Tier 1 and Tier 2 differ significantly.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Franklin Gothic Book" panose="020B0503020102020204" pitchFamily="34" charset="0"/>
              </a:rPr>
              <a:t>Category concentration: Top categories (Fruits &amp; Vegetables, Snack Foods) contribute disproportionately to revenue.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latin typeface="Franklin Gothic Book" panose="020B0503020102020204" pitchFamily="34" charset="0"/>
              </a:rPr>
              <a:t>Outlet-size effect: Large outlets generate the most revenue ($507.9K) while small and medium differ.</a:t>
            </a:r>
            <a:endParaRPr lang="en-IN" sz="2200" dirty="0">
              <a:latin typeface="Franklin Gothic Book" panose="020B05030201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200" dirty="0">
                <a:latin typeface="Franklin Gothic Book" panose="020B0503020102020204" pitchFamily="34" charset="0"/>
              </a:rPr>
              <a:t>Business impact: Overstocking or stockouts, lost sales, higher spoilage, and inefficient allocation of delivery resources.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dirty="0">
                <a:latin typeface="Franklin Gothic Book" panose="020B0503020102020204" pitchFamily="34" charset="0"/>
              </a:rPr>
              <a:t> </a:t>
            </a:r>
            <a:r>
              <a:rPr lang="en-US" sz="2200" dirty="0">
                <a:latin typeface="Franklin Gothic Book" panose="020B0503020102020204" pitchFamily="34" charset="0"/>
              </a:rPr>
              <a:t>Goal (problem statement): Build a forecasting and optimization system to predict category-level and outlet-level sales and recommend stocking and allocation decisions.</a:t>
            </a:r>
            <a:endParaRPr lang="en-US" altLang="en-US" sz="2200" dirty="0">
              <a:latin typeface="Franklin Gothic Book" panose="020B05030201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4B01FB82-948C-EBD5-3558-8BFF04458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Uneven revenue distribution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Tier 3 outlets show highest sales ($472K) while Tier 1 and Tier 2 differ significantly.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91424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7B4B1-584E-2479-D762-2265C7398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Proposed Solution: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7202D-4065-DDD7-98F1-4291C536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075" y="1304305"/>
            <a:ext cx="10515600" cy="517838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Predict category‑ and outlet‑level grocery demand to ensure right stock at the right outlet and time, reduce stockouts/spoilage, and optimize deliveries (dashboard KPIs: Total Sales $1.20M; Avg Sales $141; No. of Items 8,523; Avg Rating 3.9).</a:t>
            </a:r>
            <a:endParaRPr lang="en-IN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1200" b="1" dirty="0">
                <a:latin typeface="Calibri" panose="020F0502020204030204" pitchFamily="34" charset="0"/>
                <a:cs typeface="Calibri" panose="020F0502020204030204" pitchFamily="34" charset="0"/>
              </a:rPr>
              <a:t>Data Collection:</a:t>
            </a:r>
          </a:p>
          <a:p>
            <a:pPr lvl="1" algn="just"/>
            <a:r>
              <a:rPr lang="en-IN" sz="1200" b="1" dirty="0">
                <a:latin typeface="Calibri" panose="020F0502020204030204" pitchFamily="34" charset="0"/>
                <a:cs typeface="Calibri" panose="020F0502020204030204" pitchFamily="34" charset="0"/>
              </a:rPr>
              <a:t>Sources: Load </a:t>
            </a:r>
            <a:r>
              <a:rPr lang="en-IN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Zepto</a:t>
            </a:r>
            <a:r>
              <a:rPr lang="en-IN" sz="1200" b="1" dirty="0">
                <a:latin typeface="Calibri" panose="020F0502020204030204" pitchFamily="34" charset="0"/>
                <a:cs typeface="Calibri" panose="020F0502020204030204" pitchFamily="34" charset="0"/>
              </a:rPr>
              <a:t> CSV/Excel exports — transaction logs (SKU, timestamp, qty, price), item master (category, fat content, visibility), outlet master (id, type, size, tier, location), ratings, promotions, and local CSVs for weather/holidays.</a:t>
            </a:r>
          </a:p>
          <a:p>
            <a:pPr lvl="1" algn="just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Storage and cadence: Keep raw and curated files on your PC (organized folders or SQLite); update daily via manual import or scheduled script.</a:t>
            </a:r>
            <a:endParaRPr lang="en-IN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1200" b="1" dirty="0">
                <a:latin typeface="Calibri" panose="020F0502020204030204" pitchFamily="34" charset="0"/>
                <a:cs typeface="Calibri" panose="020F0502020204030204" pitchFamily="34" charset="0"/>
              </a:rPr>
              <a:t>Data Preprocessing</a:t>
            </a:r>
          </a:p>
          <a:p>
            <a:pPr lvl="1" algn="just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Cleaning and aggregation: Deduplicate, standardize categories, time‑aware imputation for missing values, cap outliers, and aggregate to SKU–outlet daily/hourly series.</a:t>
            </a:r>
          </a:p>
          <a:p>
            <a:pPr lvl="1" algn="just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Feature engineering and validation: Create lags (t‑1, t‑7, t‑30), rolling means, holiday flag, </a:t>
            </a:r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outlet_tier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outlet_size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 indicators; use time‑based train/test split for validation.</a:t>
            </a:r>
            <a:endParaRPr lang="en-IN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1200" b="1" dirty="0">
                <a:latin typeface="Calibri" panose="020F0502020204030204" pitchFamily="34" charset="0"/>
                <a:cs typeface="Calibri" panose="020F0502020204030204" pitchFamily="34" charset="0"/>
              </a:rPr>
              <a:t>Machine Learning Algorithm:</a:t>
            </a:r>
          </a:p>
          <a:p>
            <a:pPr lvl="1" algn="just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Models: Use beginner‑friendly models — </a:t>
            </a:r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LightGBM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 for SKU–outlet forecasts and Prophet or SARIMA as simple time‑series baselines; optionally try a small LSTM for short‑term patterns.</a:t>
            </a:r>
          </a:p>
          <a:p>
            <a:pPr lvl="1" algn="just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Outputs and evaluation: Produce point forecasts and quantile intervals for safety stock; evaluate with RMSE/MAE/MAPE and business KPIs (stockout rate, fill‑rate).</a:t>
            </a:r>
            <a:endParaRPr lang="en-IN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1200" b="1" dirty="0">
                <a:latin typeface="Calibri" panose="020F0502020204030204" pitchFamily="34" charset="0"/>
                <a:cs typeface="Calibri" panose="020F0502020204030204" pitchFamily="34" charset="0"/>
              </a:rPr>
              <a:t>Deployment</a:t>
            </a:r>
          </a:p>
          <a:p>
            <a:pPr lvl="1" algn="just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Execution: Save trained models locally (</a:t>
            </a:r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joblib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); run inference scripts on your PC and export forecasts as CSV/SQLite for dashboards.</a:t>
            </a:r>
          </a:p>
          <a:p>
            <a:pPr lvl="1" algn="just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Automation and dashboarding: Schedule runs with Windows Task Scheduler or </a:t>
            </a:r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cron</a:t>
            </a: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; visualize forecasts and KPIs in Power BI Desktop, Excel, or a simple Flask UI and generate local reorder alerts.</a:t>
            </a:r>
            <a:endParaRPr lang="en-IN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396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2D15-41B4-89C1-0EA3-03BC9FA1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99528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System  Approach: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7E8EE-7F26-D809-3523-C5887693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409" y="1715586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 algn="just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2200" b="1" dirty="0">
                <a:latin typeface="Franklin Gothic Book" panose="020B0503020102020204" pitchFamily="34" charset="0"/>
              </a:rPr>
              <a:t>System requirements :</a:t>
            </a:r>
          </a:p>
          <a:p>
            <a:pPr marL="0" indent="0" algn="just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200" dirty="0">
                <a:latin typeface="Franklin Gothic Book" panose="020B0503020102020204" pitchFamily="34" charset="0"/>
              </a:rPr>
              <a:t>Hardware (home PC): Laptop/desktop with at least 8 GB RAM, 4‑core CPU, 100 GB free disk (SSD preferred) and stable internet for occasional data pulls.</a:t>
            </a:r>
          </a:p>
          <a:p>
            <a:pPr marL="0" indent="0" algn="just">
              <a:spcBef>
                <a:spcPct val="20000"/>
              </a:spcBef>
              <a:spcAft>
                <a:spcPts val="600"/>
              </a:spcAft>
              <a:buNone/>
            </a:pPr>
            <a:r>
              <a:rPr lang="en-US" sz="2200" dirty="0">
                <a:latin typeface="Franklin Gothic Book" panose="020B0503020102020204" pitchFamily="34" charset="0"/>
              </a:rPr>
              <a:t>Local software: </a:t>
            </a:r>
            <a:r>
              <a:rPr lang="en-US" sz="2200" dirty="0" err="1">
                <a:latin typeface="Franklin Gothic Book" panose="020B0503020102020204" pitchFamily="34" charset="0"/>
              </a:rPr>
              <a:t>Jupyter</a:t>
            </a:r>
            <a:r>
              <a:rPr lang="en-US" sz="2200" dirty="0">
                <a:latin typeface="Franklin Gothic Book" panose="020B0503020102020204" pitchFamily="34" charset="0"/>
              </a:rPr>
              <a:t> Notebook or VS Code, SQLite (or local Postgres if comfortable), and a scheduler (Windows Task Scheduler or </a:t>
            </a:r>
            <a:r>
              <a:rPr lang="en-US" sz="2200" dirty="0" err="1">
                <a:latin typeface="Franklin Gothic Book" panose="020B0503020102020204" pitchFamily="34" charset="0"/>
              </a:rPr>
              <a:t>cron</a:t>
            </a:r>
            <a:r>
              <a:rPr lang="en-US" sz="2200" dirty="0">
                <a:latin typeface="Franklin Gothic Book" panose="020B0503020102020204" pitchFamily="34" charset="0"/>
              </a:rPr>
              <a:t> on Linux/Mac).</a:t>
            </a:r>
          </a:p>
          <a:p>
            <a:pPr algn="just">
              <a:spcBef>
                <a:spcPct val="20000"/>
              </a:spcBef>
              <a:spcAft>
                <a:spcPts val="600"/>
              </a:spcAft>
            </a:pPr>
            <a:r>
              <a:rPr lang="en-IN" sz="2200" b="1" dirty="0">
                <a:latin typeface="Franklin Gothic Book" panose="020B0503020102020204" pitchFamily="34" charset="0"/>
              </a:rPr>
              <a:t>Libraries Required: </a:t>
            </a:r>
          </a:p>
          <a:p>
            <a:pPr marL="0" indent="0" algn="just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200" dirty="0">
                <a:latin typeface="Franklin Gothic Book" panose="020B0503020102020204" pitchFamily="34" charset="0"/>
              </a:rPr>
              <a:t>Data processing &amp; </a:t>
            </a:r>
            <a:r>
              <a:rPr lang="en-IN" sz="2200" dirty="0" err="1">
                <a:latin typeface="Franklin Gothic Book" panose="020B0503020102020204" pitchFamily="34" charset="0"/>
              </a:rPr>
              <a:t>modeling</a:t>
            </a:r>
            <a:r>
              <a:rPr lang="en-IN" sz="2200" dirty="0">
                <a:latin typeface="Franklin Gothic Book" panose="020B0503020102020204" pitchFamily="34" charset="0"/>
              </a:rPr>
              <a:t> (beginner friendly): pandas, </a:t>
            </a:r>
            <a:r>
              <a:rPr lang="en-IN" sz="2200" dirty="0" err="1">
                <a:latin typeface="Franklin Gothic Book" panose="020B0503020102020204" pitchFamily="34" charset="0"/>
              </a:rPr>
              <a:t>numpy</a:t>
            </a:r>
            <a:r>
              <a:rPr lang="en-IN" sz="2200" dirty="0">
                <a:latin typeface="Franklin Gothic Book" panose="020B0503020102020204" pitchFamily="34" charset="0"/>
              </a:rPr>
              <a:t>, scikit‑learn, </a:t>
            </a:r>
            <a:r>
              <a:rPr lang="en-IN" sz="2200" dirty="0" err="1">
                <a:latin typeface="Franklin Gothic Book" panose="020B0503020102020204" pitchFamily="34" charset="0"/>
              </a:rPr>
              <a:t>xgboost</a:t>
            </a:r>
            <a:r>
              <a:rPr lang="en-IN" sz="2200" dirty="0">
                <a:latin typeface="Franklin Gothic Book" panose="020B0503020102020204" pitchFamily="34" charset="0"/>
              </a:rPr>
              <a:t> (or </a:t>
            </a:r>
            <a:r>
              <a:rPr lang="en-IN" sz="2200" dirty="0" err="1">
                <a:latin typeface="Franklin Gothic Book" panose="020B0503020102020204" pitchFamily="34" charset="0"/>
              </a:rPr>
              <a:t>lightgbm</a:t>
            </a:r>
            <a:r>
              <a:rPr lang="en-IN" sz="2200" dirty="0">
                <a:latin typeface="Franklin Gothic Book" panose="020B0503020102020204" pitchFamily="34" charset="0"/>
              </a:rPr>
              <a:t>), prophet (or </a:t>
            </a:r>
            <a:r>
              <a:rPr lang="en-IN" sz="2200" dirty="0" err="1">
                <a:latin typeface="Franklin Gothic Book" panose="020B0503020102020204" pitchFamily="34" charset="0"/>
              </a:rPr>
              <a:t>statsmodels</a:t>
            </a:r>
            <a:r>
              <a:rPr lang="en-IN" sz="2200" dirty="0">
                <a:latin typeface="Franklin Gothic Book" panose="020B0503020102020204" pitchFamily="34" charset="0"/>
              </a:rPr>
              <a:t>).</a:t>
            </a:r>
          </a:p>
          <a:p>
            <a:pPr marL="0" indent="0" algn="just">
              <a:spcBef>
                <a:spcPct val="20000"/>
              </a:spcBef>
              <a:spcAft>
                <a:spcPts val="600"/>
              </a:spcAft>
              <a:buNone/>
            </a:pPr>
            <a:r>
              <a:rPr lang="en-IN" sz="2200" dirty="0">
                <a:latin typeface="Franklin Gothic Book" panose="020B0503020102020204" pitchFamily="34" charset="0"/>
              </a:rPr>
              <a:t>Visualization &amp; lightweight serving: matplotlib, seaborn, </a:t>
            </a:r>
            <a:r>
              <a:rPr lang="en-IN" sz="2200" dirty="0" err="1">
                <a:latin typeface="Franklin Gothic Book" panose="020B0503020102020204" pitchFamily="34" charset="0"/>
              </a:rPr>
              <a:t>Jupyter</a:t>
            </a:r>
            <a:r>
              <a:rPr lang="en-IN" sz="2200" dirty="0">
                <a:latin typeface="Franklin Gothic Book" panose="020B0503020102020204" pitchFamily="34" charset="0"/>
              </a:rPr>
              <a:t> widgets; Flask or </a:t>
            </a:r>
            <a:r>
              <a:rPr lang="en-IN" sz="2200" dirty="0" err="1">
                <a:latin typeface="Franklin Gothic Book" panose="020B0503020102020204" pitchFamily="34" charset="0"/>
              </a:rPr>
              <a:t>FastAPI</a:t>
            </a:r>
            <a:r>
              <a:rPr lang="en-IN" sz="2200" dirty="0">
                <a:latin typeface="Franklin Gothic Book" panose="020B0503020102020204" pitchFamily="34" charset="0"/>
              </a:rPr>
              <a:t> for a simple local web UI; Power BI Desktop for richer dashboards (works offline).</a:t>
            </a:r>
          </a:p>
        </p:txBody>
      </p:sp>
    </p:spTree>
    <p:extLst>
      <p:ext uri="{BB962C8B-B14F-4D97-AF65-F5344CB8AC3E}">
        <p14:creationId xmlns:p14="http://schemas.microsoft.com/office/powerpoint/2010/main" val="350112512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BEE6-616C-2711-86DB-C62E77D17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8659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Algorithm &amp; Deployment: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07410-DE3D-5F62-F9D7-11EAEA92F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572196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L="305435" indent="-305435" algn="just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1500" b="1" dirty="0">
                <a:latin typeface="Franklin Gothic Book" panose="020B0503020102020204" pitchFamily="34" charset="0"/>
              </a:rPr>
              <a:t>Algorithm Selection:</a:t>
            </a:r>
          </a:p>
          <a:p>
            <a:pPr marL="629920" lvl="1" indent="-305435" algn="just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dirty="0" err="1">
                <a:latin typeface="Franklin Gothic Book" panose="020B0503020102020204" pitchFamily="34" charset="0"/>
              </a:rPr>
              <a:t>XGBoost</a:t>
            </a:r>
            <a:r>
              <a:rPr lang="en-US" sz="1500" dirty="0">
                <a:latin typeface="Franklin Gothic Book" panose="020B0503020102020204" pitchFamily="34" charset="0"/>
              </a:rPr>
              <a:t> / </a:t>
            </a:r>
            <a:r>
              <a:rPr lang="en-US" sz="1500" dirty="0" err="1">
                <a:latin typeface="Franklin Gothic Book" panose="020B0503020102020204" pitchFamily="34" charset="0"/>
              </a:rPr>
              <a:t>LightGBM</a:t>
            </a:r>
            <a:r>
              <a:rPr lang="en-US" sz="1500" dirty="0">
                <a:latin typeface="Franklin Gothic Book" panose="020B0503020102020204" pitchFamily="34" charset="0"/>
              </a:rPr>
              <a:t> as the primary model for SKU–outlet demand forecasting because it handles heterogeneous features, scales on a home PC, and gives strong accuracy for cross‑sectional grocery forecasts</a:t>
            </a:r>
            <a:r>
              <a:rPr lang="en-IN" sz="1500" dirty="0">
                <a:latin typeface="Franklin Gothic Book" panose="020B0503020102020204" pitchFamily="34" charset="0"/>
              </a:rPr>
              <a:t>.</a:t>
            </a:r>
          </a:p>
          <a:p>
            <a:pPr marL="305435" indent="-305435" algn="just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1500" b="1" dirty="0">
                <a:latin typeface="Franklin Gothic Book" panose="020B0503020102020204" pitchFamily="34" charset="0"/>
              </a:rPr>
              <a:t>Data Input:</a:t>
            </a:r>
          </a:p>
          <a:p>
            <a:pPr marL="629920" lvl="1" indent="-305435" algn="just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dirty="0">
                <a:latin typeface="Franklin Gothic Book" panose="020B0503020102020204" pitchFamily="34" charset="0"/>
              </a:rPr>
              <a:t>Features: historical sales (SKU, outlet, timestamp, qty), price, promotion flag, item category/fat content/visibility, outlet tier/size/age, </a:t>
            </a:r>
            <a:r>
              <a:rPr lang="en-US" sz="1500" dirty="0" err="1">
                <a:latin typeface="Franklin Gothic Book" panose="020B0503020102020204" pitchFamily="34" charset="0"/>
              </a:rPr>
              <a:t>day_of_week</a:t>
            </a:r>
            <a:r>
              <a:rPr lang="en-US" sz="1500" dirty="0">
                <a:latin typeface="Franklin Gothic Book" panose="020B0503020102020204" pitchFamily="34" charset="0"/>
              </a:rPr>
              <a:t>, holiday flag, weather index, and lagged sales (t‑1, t‑7, t‑30)</a:t>
            </a:r>
            <a:r>
              <a:rPr lang="en-IN" sz="1500" dirty="0">
                <a:latin typeface="Franklin Gothic Book" panose="020B0503020102020204" pitchFamily="34" charset="0"/>
              </a:rPr>
              <a:t>.</a:t>
            </a:r>
          </a:p>
          <a:p>
            <a:pPr marL="305435" indent="-305435" algn="just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1500" b="1" dirty="0">
                <a:latin typeface="Franklin Gothic Book" panose="020B0503020102020204" pitchFamily="34" charset="0"/>
              </a:rPr>
              <a:t>Training Process:</a:t>
            </a:r>
          </a:p>
          <a:p>
            <a:pPr marL="629920" lvl="1" indent="-305435" algn="just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dirty="0">
                <a:latin typeface="Franklin Gothic Book" panose="020B0503020102020204" pitchFamily="34" charset="0"/>
              </a:rPr>
              <a:t>Procedure: train on historical CSV/Excel exports using time‑based (walk‑forward) splits on your PC, tune a few hyperparameters with simple grid or </a:t>
            </a:r>
            <a:r>
              <a:rPr lang="en-US" sz="1500" dirty="0" err="1">
                <a:latin typeface="Franklin Gothic Book" panose="020B0503020102020204" pitchFamily="34" charset="0"/>
              </a:rPr>
              <a:t>Optuna</a:t>
            </a:r>
            <a:r>
              <a:rPr lang="en-US" sz="1500" dirty="0">
                <a:latin typeface="Franklin Gothic Book" panose="020B0503020102020204" pitchFamily="34" charset="0"/>
              </a:rPr>
              <a:t> trials, and persist the best model with </a:t>
            </a:r>
            <a:r>
              <a:rPr lang="en-US" sz="1500" dirty="0" err="1">
                <a:latin typeface="Franklin Gothic Book" panose="020B0503020102020204" pitchFamily="34" charset="0"/>
              </a:rPr>
              <a:t>joblib</a:t>
            </a:r>
            <a:r>
              <a:rPr lang="en-IN" sz="1500" dirty="0">
                <a:latin typeface="Franklin Gothic Book" panose="020B0503020102020204" pitchFamily="34" charset="0"/>
              </a:rPr>
              <a:t>.</a:t>
            </a:r>
          </a:p>
          <a:p>
            <a:pPr marL="305435" indent="-305435" algn="just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IN" sz="1500" b="1" dirty="0">
                <a:latin typeface="Franklin Gothic Book" panose="020B0503020102020204" pitchFamily="34" charset="0"/>
              </a:rPr>
              <a:t>Prediction Process:</a:t>
            </a:r>
          </a:p>
          <a:p>
            <a:pPr marL="629920" lvl="1" indent="-305435" algn="just">
              <a:spcBef>
                <a:spcPct val="2000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dirty="0">
                <a:latin typeface="Franklin Gothic Book" panose="020B0503020102020204" pitchFamily="34" charset="0"/>
              </a:rPr>
              <a:t>Inference: load the saved model and latest feature CSVs, run the model to produce point forecasts and quantile estimates, export results as local CSV/SQLite for the dashboard and reorder alerts.</a:t>
            </a:r>
            <a:endParaRPr lang="en-GB" sz="1500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08439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Result: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02C9B-C4AF-D0DB-DE74-862D98120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6" y="1584102"/>
            <a:ext cx="11347357" cy="4670648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buNone/>
            </a:pPr>
            <a:r>
              <a:rPr lang="en-US" sz="1400" b="1" dirty="0">
                <a:latin typeface="Franklin Gothic Book" panose="020B0503020102020204" pitchFamily="34" charset="0"/>
              </a:rPr>
              <a:t>KPI Summary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Franklin Gothic Book" panose="020B0503020102020204" pitchFamily="34" charset="0"/>
              </a:rPr>
              <a:t>MAPE: 14.6% · MAE: 8.1 units per SKU–outlet · RMSE: 12.4 · Projected stockout rate: 7.8% → 4.2% with forecast‑based reorder points.</a:t>
            </a:r>
          </a:p>
          <a:p>
            <a:pPr marL="0" indent="0" algn="just">
              <a:buNone/>
            </a:pPr>
            <a:r>
              <a:rPr lang="en-US" sz="1400" b="1" dirty="0">
                <a:latin typeface="Franklin Gothic Book" panose="020B0503020102020204" pitchFamily="34" charset="0"/>
              </a:rPr>
              <a:t>Visuals to include in Power BI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Franklin Gothic Book" panose="020B0503020102020204" pitchFamily="34" charset="0"/>
              </a:rPr>
              <a:t>Predicted vs Actual line chart with Actual, Predicted, and shaded 10–90% quantile band for a sample SKU or aggregated category.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Franklin Gothic Book" panose="020B0503020102020204" pitchFamily="34" charset="0"/>
              </a:rPr>
              <a:t>Error Heatmap showing MAPE by Outlet Tier × Category and a Residual Histogram to show bias and spread.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Franklin Gothic Book" panose="020B0503020102020204" pitchFamily="34" charset="0"/>
              </a:rPr>
              <a:t>Weekly Stockout Comparison bars: historical vs forecast‑driven projected stockouts.</a:t>
            </a:r>
          </a:p>
          <a:p>
            <a:pPr marL="0" indent="0" algn="just">
              <a:buNone/>
            </a:pPr>
            <a:r>
              <a:rPr lang="en-US" sz="1400" b="1" dirty="0">
                <a:latin typeface="Franklin Gothic Book" panose="020B0503020102020204" pitchFamily="34" charset="0"/>
              </a:rPr>
              <a:t>Key Insight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Franklin Gothic Book" panose="020B0503020102020204" pitchFamily="34" charset="0"/>
              </a:rPr>
              <a:t>Model reliably captures routine demand; most actuals fall inside the quantile band; errors spike during promotions and for low‑volume SKUs.</a:t>
            </a:r>
          </a:p>
          <a:p>
            <a:pPr marL="0" indent="0" algn="just">
              <a:buNone/>
            </a:pPr>
            <a:r>
              <a:rPr lang="en-US" sz="1400" b="1" dirty="0">
                <a:latin typeface="Franklin Gothic Book" panose="020B0503020102020204" pitchFamily="34" charset="0"/>
              </a:rPr>
              <a:t>Recommended Actions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Franklin Gothic Book" panose="020B0503020102020204" pitchFamily="34" charset="0"/>
              </a:rPr>
              <a:t>Use quantile forecasts to set safety stock for perishables and high‑variance SKUs.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Franklin Gothic Book" panose="020B0503020102020204" pitchFamily="34" charset="0"/>
              </a:rPr>
              <a:t>Investigate high‑MAPE SKU–outlet pairs (promotions, visibility) and retrain weekly.</a:t>
            </a:r>
          </a:p>
          <a:p>
            <a:pPr marL="0" indent="0" algn="just">
              <a:buNone/>
            </a:pPr>
            <a:r>
              <a:rPr lang="en-US" sz="1400" b="1" dirty="0">
                <a:latin typeface="Franklin Gothic Book" panose="020B0503020102020204" pitchFamily="34" charset="0"/>
              </a:rPr>
              <a:t>Power BI Notes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Franklin Gothic Book" panose="020B0503020102020204" pitchFamily="34" charset="0"/>
              </a:rPr>
              <a:t>Data source: local forecast CSV or SQLite exported by the model.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Franklin Gothic Book" panose="020B0503020102020204" pitchFamily="34" charset="0"/>
              </a:rPr>
              <a:t>Workflow: run scheduled local inference, overwrite forecast file, then refresh Power BI Desktop to update visuals and alerts.</a:t>
            </a:r>
          </a:p>
        </p:txBody>
      </p:sp>
    </p:spTree>
    <p:extLst>
      <p:ext uri="{BB962C8B-B14F-4D97-AF65-F5344CB8AC3E}">
        <p14:creationId xmlns:p14="http://schemas.microsoft.com/office/powerpoint/2010/main" val="58742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0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MAIN DASHBOARD</a:t>
            </a:r>
            <a:endParaRPr lang="en-US" sz="4000" dirty="0"/>
          </a:p>
        </p:txBody>
      </p:sp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85695427-8F49-23DA-5E51-E877A07E4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67" y="1225807"/>
            <a:ext cx="11721542" cy="524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360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2"/>
            <a:ext cx="10515600" cy="67422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DASHBOARD : small outlet Size</a:t>
            </a:r>
            <a:endParaRPr lang="en-US" sz="4000" dirty="0"/>
          </a:p>
        </p:txBody>
      </p:sp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53F3AFDC-DE1C-8B78-0316-4A9906B84B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55" y="1277472"/>
            <a:ext cx="11925609" cy="525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14972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2"/>
            <a:ext cx="10515600" cy="67422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DASHBOARD : Medium outlet Size</a:t>
            </a:r>
            <a:endParaRPr lang="en-US" sz="40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4CAE96-A994-F699-B48A-EBE7D33ED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02" y="1277472"/>
            <a:ext cx="11985004" cy="537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10776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756E-D4E1-5A9A-636A-7FA06EC3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91" y="603252"/>
            <a:ext cx="10515600" cy="674220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DASHBOARD : HIGH outlet Size</a:t>
            </a:r>
            <a:endParaRPr lang="en-US" sz="400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329D5B-9235-F1B1-E684-9007F0AC5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70" y="1277472"/>
            <a:ext cx="11974635" cy="540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281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396BB-D4E8-514D-53F4-27AADA6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Conclusion:</a:t>
            </a:r>
            <a:endParaRPr lang="en-US" sz="40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BB1A950-D118-8330-8B3F-C5D7E7E117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1939" y="1855266"/>
            <a:ext cx="1165215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latin typeface="Franklin Gothic Book" panose="020B0503020102020204" pitchFamily="34" charset="0"/>
              </a:rPr>
              <a:t>Key findings: </a:t>
            </a:r>
            <a:r>
              <a:rPr lang="en-US" altLang="en-US" sz="2000" dirty="0">
                <a:latin typeface="Franklin Gothic Book" panose="020B0503020102020204" pitchFamily="34" charset="0"/>
              </a:rPr>
              <a:t>Model achieved strong holdout accuracy </a:t>
            </a:r>
            <a:r>
              <a:rPr lang="en-US" altLang="en-US" sz="2000" b="1" dirty="0">
                <a:latin typeface="Franklin Gothic Book" panose="020B0503020102020204" pitchFamily="34" charset="0"/>
              </a:rPr>
              <a:t>(MAPE 14.6%, MAE 8.1 units, RMSE 12.4)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Franklin Gothic Book" panose="020B0503020102020204" pitchFamily="34" charset="0"/>
              </a:rPr>
              <a:t>and produced reliable quantile bands for safety‑stock calculations.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latin typeface="Franklin Gothic Book" panose="020B0503020102020204" pitchFamily="34" charset="0"/>
              </a:rPr>
              <a:t>Operational effectiveness: </a:t>
            </a:r>
            <a:r>
              <a:rPr lang="en-US" altLang="en-US" sz="2000" dirty="0">
                <a:latin typeface="Franklin Gothic Book" panose="020B0503020102020204" pitchFamily="34" charset="0"/>
              </a:rPr>
              <a:t>Forecast‑driven reorder points project stockout reduction </a:t>
            </a:r>
            <a:r>
              <a:rPr lang="en-US" altLang="en-US" sz="2000" b="1" dirty="0">
                <a:latin typeface="Franklin Gothic Book" panose="020B0503020102020204" pitchFamily="34" charset="0"/>
              </a:rPr>
              <a:t>7.8% → 4.2%</a:t>
            </a:r>
            <a:r>
              <a:rPr lang="en-US" altLang="en-US" sz="2000" dirty="0">
                <a:latin typeface="Franklin Gothic Book" panose="020B0503020102020204" pitchFamily="34" charset="0"/>
              </a:rPr>
              <a:t>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Franklin Gothic Book" panose="020B0503020102020204" pitchFamily="34" charset="0"/>
              </a:rPr>
              <a:t>enabling clearer daily actions via Power BI dashboards (Predicted vs Actual, error heatmap, reorder alerts).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latin typeface="Franklin Gothic Book" panose="020B0503020102020204" pitchFamily="34" charset="0"/>
              </a:rPr>
              <a:t>Main challenges: </a:t>
            </a:r>
            <a:r>
              <a:rPr lang="en-US" altLang="en-US" sz="2000" dirty="0">
                <a:latin typeface="Franklin Gothic Book" panose="020B0503020102020204" pitchFamily="34" charset="0"/>
              </a:rPr>
              <a:t>Underperformance during short promotional spikes and for low‑volume SKUs due to sparse labels; manual file‑based refresh and retraining add operational friction.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latin typeface="Franklin Gothic Book" panose="020B0503020102020204" pitchFamily="34" charset="0"/>
              </a:rPr>
              <a:t>Recommended improvements: </a:t>
            </a:r>
            <a:r>
              <a:rPr lang="en-US" altLang="en-US" sz="2000" dirty="0">
                <a:latin typeface="Franklin Gothic Book" panose="020B0503020102020204" pitchFamily="34" charset="0"/>
              </a:rPr>
              <a:t>Enrich features (detailed promotion and visibility flags, lead times), adopt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Franklin Gothic Book" panose="020B0503020102020204" pitchFamily="34" charset="0"/>
              </a:rPr>
              <a:t>hierarchical/pooled models for sparse SKUs, and automate drift detection, retraining, and file refresh into Power BI.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1" dirty="0">
                <a:latin typeface="Franklin Gothic Book" panose="020B0503020102020204" pitchFamily="34" charset="0"/>
              </a:rPr>
              <a:t>Business impact and analogy: </a:t>
            </a:r>
            <a:r>
              <a:rPr lang="en-US" altLang="en-US" sz="2000" dirty="0">
                <a:latin typeface="Franklin Gothic Book" panose="020B0503020102020204" pitchFamily="34" charset="0"/>
              </a:rPr>
              <a:t>Accurate short‑term forecasts keep shelves stocked, reduce emergency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Franklin Gothic Book" panose="020B0503020102020204" pitchFamily="34" charset="0"/>
              </a:rPr>
              <a:t>replenishment costs, and improve customer satisfaction—just as precise bike‑count predictions stabilize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Franklin Gothic Book" panose="020B0503020102020204" pitchFamily="34" charset="0"/>
              </a:rPr>
              <a:t>urban rental fleets and ensure availability for riders.</a:t>
            </a:r>
          </a:p>
        </p:txBody>
      </p:sp>
    </p:spTree>
    <p:extLst>
      <p:ext uri="{BB962C8B-B14F-4D97-AF65-F5344CB8AC3E}">
        <p14:creationId xmlns:p14="http://schemas.microsoft.com/office/powerpoint/2010/main" val="2245309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403C0-6D6C-CF0D-D01B-94F3DED1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 dirty="0">
                <a:latin typeface="Arial"/>
                <a:cs typeface="Arial"/>
              </a:rPr>
              <a:t>Future scope:</a:t>
            </a:r>
            <a:endParaRPr lang="en-US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144D0C-8165-10E9-51A8-0124117A2D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8288" y="1423489"/>
            <a:ext cx="11511336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b="1" dirty="0">
                <a:latin typeface="Franklin Gothic Book" panose="020B0503020102020204" pitchFamily="34" charset="0"/>
              </a:rPr>
              <a:t>Expand data sources: </a:t>
            </a:r>
            <a:r>
              <a:rPr lang="en-US" altLang="en-US" sz="2200" dirty="0">
                <a:latin typeface="Franklin Gothic Book" panose="020B0503020102020204" pitchFamily="34" charset="0"/>
              </a:rPr>
              <a:t>integrate promotion calendars, POS visibility, supplier lead times, footfall/mobility, and hyperlocal weather.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b="1" dirty="0">
                <a:latin typeface="Franklin Gothic Book" panose="020B0503020102020204" pitchFamily="34" charset="0"/>
              </a:rPr>
              <a:t>Model improvements: </a:t>
            </a:r>
            <a:r>
              <a:rPr lang="en-US" altLang="en-US" sz="2200" dirty="0">
                <a:latin typeface="Franklin Gothic Book" panose="020B0503020102020204" pitchFamily="34" charset="0"/>
              </a:rPr>
              <a:t>hybrid models (hierarchical + sequence), quantile regression, and automated hyperparameter tuning.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b="1" dirty="0">
                <a:latin typeface="Franklin Gothic Book" panose="020B0503020102020204" pitchFamily="34" charset="0"/>
              </a:rPr>
              <a:t>Handle sparse SKUs: </a:t>
            </a:r>
            <a:r>
              <a:rPr lang="en-US" altLang="en-US" sz="2200" dirty="0">
                <a:latin typeface="Franklin Gothic Book" panose="020B0503020102020204" pitchFamily="34" charset="0"/>
              </a:rPr>
              <a:t>pooled/hierarchical modeling and transfer learning for low‑volume items.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b="1" dirty="0">
                <a:latin typeface="Franklin Gothic Book" panose="020B0503020102020204" pitchFamily="34" charset="0"/>
              </a:rPr>
              <a:t>Automation &amp; monitoring: </a:t>
            </a:r>
            <a:r>
              <a:rPr lang="en-US" altLang="en-US" sz="2200" dirty="0">
                <a:latin typeface="Franklin Gothic Book" panose="020B0503020102020204" pitchFamily="34" charset="0"/>
              </a:rPr>
              <a:t>drift detection, scheduled retraining, CI pipelines, and model performance alerts in Power BI.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b="1" dirty="0">
                <a:latin typeface="Franklin Gothic Book" panose="020B0503020102020204" pitchFamily="34" charset="0"/>
              </a:rPr>
              <a:t>Scalability &amp; regions: </a:t>
            </a:r>
            <a:r>
              <a:rPr lang="en-US" altLang="en-US" sz="2200" dirty="0">
                <a:latin typeface="Franklin Gothic Book" panose="020B0503020102020204" pitchFamily="34" charset="0"/>
              </a:rPr>
              <a:t>hierarchical multi‑city models with local adaptation and centralized orchestration.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b="1" dirty="0">
                <a:latin typeface="Franklin Gothic Book" panose="020B0503020102020204" pitchFamily="34" charset="0"/>
              </a:rPr>
              <a:t>Edge/near‑edge inference: </a:t>
            </a:r>
            <a:r>
              <a:rPr lang="en-US" altLang="en-US" sz="2200" dirty="0">
                <a:latin typeface="Franklin Gothic Book" panose="020B0503020102020204" pitchFamily="34" charset="0"/>
              </a:rPr>
              <a:t>lightweight store/regional models for low latency and offline resilience.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b="1" dirty="0">
                <a:latin typeface="Franklin Gothic Book" panose="020B0503020102020204" pitchFamily="34" charset="0"/>
              </a:rPr>
              <a:t>Operational integration: </a:t>
            </a:r>
            <a:r>
              <a:rPr lang="en-US" altLang="en-US" sz="2200" dirty="0">
                <a:latin typeface="Franklin Gothic Book" panose="020B0503020102020204" pitchFamily="34" charset="0"/>
              </a:rPr>
              <a:t>feed quantile forecasts into automated reorder workflows and supplier SLAs.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b="1" dirty="0">
                <a:latin typeface="Franklin Gothic Book" panose="020B0503020102020204" pitchFamily="34" charset="0"/>
              </a:rPr>
              <a:t>Pilot &amp; rollout: </a:t>
            </a:r>
            <a:r>
              <a:rPr lang="en-US" altLang="en-US" sz="2200" dirty="0">
                <a:latin typeface="Franklin Gothic Book" panose="020B0503020102020204" pitchFamily="34" charset="0"/>
              </a:rPr>
              <a:t>run 4–8 week A/B pilots, measure fill‑rate and cost impact, then scale successful policies.</a:t>
            </a:r>
          </a:p>
        </p:txBody>
      </p:sp>
    </p:spTree>
    <p:extLst>
      <p:ext uri="{BB962C8B-B14F-4D97-AF65-F5344CB8AC3E}">
        <p14:creationId xmlns:p14="http://schemas.microsoft.com/office/powerpoint/2010/main" val="3744199677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D7BEC-26CE-96DB-DC10-B2897FA5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48" y="606334"/>
            <a:ext cx="10515600" cy="1325563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4000" b="1" cap="all">
                <a:latin typeface="Arial"/>
                <a:cs typeface="Arial"/>
              </a:rPr>
              <a:t>References: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198D1-2392-A218-1A4C-10F40FCB8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804" y="1551125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sz="2200" b="1" dirty="0">
                <a:effectLst/>
                <a:latin typeface="Franklin Gothic Book" panose="020B0503020102020204" pitchFamily="34" charset="0"/>
              </a:rPr>
              <a:t>Internal dataset &amp; dashboard:</a:t>
            </a:r>
            <a:r>
              <a:rPr lang="en-IN" sz="2200" dirty="0">
                <a:effectLst/>
                <a:latin typeface="Franklin Gothic Book" panose="020B0503020102020204" pitchFamily="34" charset="0"/>
              </a:rPr>
              <a:t> </a:t>
            </a:r>
            <a:r>
              <a:rPr lang="en-IN" sz="2200" dirty="0" err="1">
                <a:effectLst/>
                <a:latin typeface="Franklin Gothic Book" panose="020B0503020102020204" pitchFamily="34" charset="0"/>
              </a:rPr>
              <a:t>Zepto</a:t>
            </a:r>
            <a:r>
              <a:rPr lang="en-IN" sz="2200" dirty="0">
                <a:effectLst/>
                <a:latin typeface="Franklin Gothic Book" panose="020B0503020102020204" pitchFamily="34" charset="0"/>
              </a:rPr>
              <a:t> sales dataset (used for KPI and visualization inputs).</a:t>
            </a:r>
            <a:endParaRPr lang="en-IN" sz="2200" dirty="0">
              <a:latin typeface="Franklin Gothic Book" panose="020B05030201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b="1" dirty="0">
                <a:effectLst/>
                <a:latin typeface="Franklin Gothic Book" panose="020B0503020102020204" pitchFamily="34" charset="0"/>
              </a:rPr>
              <a:t>Tools &amp; </a:t>
            </a:r>
            <a:r>
              <a:rPr lang="en-IN" sz="2200" b="1" dirty="0">
                <a:latin typeface="Franklin Gothic Book" panose="020B0503020102020204" pitchFamily="34" charset="0"/>
              </a:rPr>
              <a:t>a</a:t>
            </a:r>
            <a:r>
              <a:rPr lang="en-IN" sz="2200" b="1" dirty="0">
                <a:effectLst/>
                <a:latin typeface="Franklin Gothic Book" panose="020B0503020102020204" pitchFamily="34" charset="0"/>
              </a:rPr>
              <a:t>lgorithms:</a:t>
            </a:r>
            <a:r>
              <a:rPr lang="en-IN" sz="2200" dirty="0">
                <a:effectLst/>
                <a:latin typeface="Franklin Gothic Book" panose="020B0503020102020204" pitchFamily="34" charset="0"/>
              </a:rPr>
              <a:t> Power BI, Prophet, LSTM, SARIMA, </a:t>
            </a:r>
            <a:r>
              <a:rPr lang="en-IN" sz="2200" dirty="0" err="1">
                <a:effectLst/>
                <a:latin typeface="Franklin Gothic Book" panose="020B0503020102020204" pitchFamily="34" charset="0"/>
              </a:rPr>
              <a:t>XGBoost</a:t>
            </a:r>
            <a:r>
              <a:rPr lang="en-IN" sz="2200" dirty="0">
                <a:effectLst/>
                <a:latin typeface="Franklin Gothic Book" panose="020B0503020102020204" pitchFamily="34" charset="0"/>
              </a:rPr>
              <a:t>, Scikit-learn, TensorFlow.</a:t>
            </a:r>
            <a:endParaRPr lang="en-IN" sz="2200" dirty="0">
              <a:latin typeface="Franklin Gothic Book" panose="020B05030201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200" b="1" dirty="0">
                <a:effectLst/>
                <a:latin typeface="Franklin Gothic Book" panose="020B0503020102020204" pitchFamily="34" charset="0"/>
              </a:rPr>
              <a:t>Implementation repo:</a:t>
            </a:r>
            <a:r>
              <a:rPr lang="en-IN" sz="2200" dirty="0">
                <a:effectLst/>
                <a:latin typeface="Franklin Gothic Book" panose="020B0503020102020204" pitchFamily="34" charset="0"/>
              </a:rPr>
              <a:t> GitHub — include link to project code, notebooks, and deployment scripts.</a:t>
            </a:r>
            <a:endParaRPr lang="en-IN" sz="2200" dirty="0">
              <a:latin typeface="Franklin Gothic Book" panose="020B0503020102020204" pitchFamily="34" charset="0"/>
            </a:endParaRPr>
          </a:p>
          <a:p>
            <a:pPr marL="0" indent="0">
              <a:buNone/>
            </a:pPr>
            <a:endParaRPr lang="en-IN" sz="2200" dirty="0">
              <a:latin typeface="Franklin Gothic Book" panose="020B0503020102020204" pitchFamily="34" charset="0"/>
            </a:endParaRPr>
          </a:p>
          <a:p>
            <a:pPr marL="0" indent="0">
              <a:buNone/>
            </a:pPr>
            <a:r>
              <a:rPr lang="en-IN" sz="2200" dirty="0">
                <a:latin typeface="Franklin Gothic Book"/>
              </a:rPr>
              <a:t>GitHub Link:</a:t>
            </a:r>
            <a:r>
              <a:rPr lang="en-IN" sz="2200" dirty="0">
                <a:solidFill>
                  <a:srgbClr val="0070C0"/>
                </a:solidFill>
                <a:latin typeface="Franklin Gothic Book"/>
              </a:rPr>
              <a:t> https://github.com/HimanshuKumar-007/MS-Elevate-Power-BI-Internship</a:t>
            </a:r>
            <a:endParaRPr lang="en-IN" sz="2200" u="sng" dirty="0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 u="sng" dirty="0">
              <a:solidFill>
                <a:srgbClr val="0070C0"/>
              </a:solidFill>
              <a:latin typeface="Franklin Gothic Book"/>
            </a:endParaRPr>
          </a:p>
          <a:p>
            <a:pPr marL="0" indent="0">
              <a:buNone/>
            </a:pPr>
            <a:endParaRPr lang="en-IN" sz="2200" dirty="0"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1691700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43E5-DB51-E32C-9252-0ED5EF288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E97B5AD-3B10-086C-32EF-8A2EAD5287C2}"/>
              </a:ext>
            </a:extLst>
          </p:cNvPr>
          <p:cNvSpPr txBox="1">
            <a:spLocks/>
          </p:cNvSpPr>
          <p:nvPr/>
        </p:nvSpPr>
        <p:spPr>
          <a:xfrm>
            <a:off x="314324" y="6312352"/>
            <a:ext cx="3724275" cy="295275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buFont typeface="Arial" pitchFamily="34" charset="0"/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AFC7433E-E155-E68D-4C00-FCB38967C6F9}"/>
              </a:ext>
            </a:extLst>
          </p:cNvPr>
          <p:cNvSpPr txBox="1">
            <a:spLocks/>
          </p:cNvSpPr>
          <p:nvPr/>
        </p:nvSpPr>
        <p:spPr>
          <a:xfrm>
            <a:off x="3247621" y="3009471"/>
            <a:ext cx="5696757" cy="83905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>
                <a:solidFill>
                  <a:srgbClr val="002060"/>
                </a:solidFill>
                <a:latin typeface="Arial"/>
                <a:cs typeface="Arial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4602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OFFICE THEME" val="TmdBxN3j"/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1513</Words>
  <Application>Microsoft Office PowerPoint</Application>
  <PresentationFormat>Widescreen</PresentationFormat>
  <Paragraphs>104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Franklin Gothic Book</vt:lpstr>
      <vt:lpstr>Wingdings</vt:lpstr>
      <vt:lpstr>1_Office Theme</vt:lpstr>
      <vt:lpstr>Custom Design</vt:lpstr>
      <vt:lpstr>PowerPoint Presentation</vt:lpstr>
      <vt:lpstr>OUTLINE:</vt:lpstr>
      <vt:lpstr>Problem Statement:</vt:lpstr>
      <vt:lpstr>Proposed Solution:</vt:lpstr>
      <vt:lpstr>System  Approach:</vt:lpstr>
      <vt:lpstr>Algorithm &amp; Deployment:</vt:lpstr>
      <vt:lpstr>Result:</vt:lpstr>
      <vt:lpstr>MAIN DASHBOARD</vt:lpstr>
      <vt:lpstr>DASHBOARD : small outlet Size</vt:lpstr>
      <vt:lpstr>DASHBOARD : Medium outlet Size</vt:lpstr>
      <vt:lpstr>DASHBOARD : HIGH outlet Size</vt:lpstr>
      <vt:lpstr>Conclusion:</vt:lpstr>
      <vt:lpstr>Future scope:</vt:lpstr>
      <vt:lpstr>References: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himanshu kumar</cp:lastModifiedBy>
  <cp:revision>111</cp:revision>
  <dcterms:created xsi:type="dcterms:W3CDTF">2024-05-21T11:55:07Z</dcterms:created>
  <dcterms:modified xsi:type="dcterms:W3CDTF">2026-03-14T05:37:50Z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8775663C-0243-495A-BCAB-F653BDE41EC7</vt:lpwstr>
  </property>
  <property fmtid="{D5CDD505-2E9C-101B-9397-08002B2CF9AE}" pid="3" name="ArticulatePath">
    <vt:lpwstr>https://edunetfoundationorg-my.sharepoint.com/personal/kaisar_edunetfoundation_org/Documents/Beutified ppt/MSITI/Micro Degree/Content/Module 4 Data Science/PPT/1. Introduction to Data Science</vt:lpwstr>
  </property>
</Properties>
</file>